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5"/>
  </p:notesMasterIdLst>
  <p:sldIdLst>
    <p:sldId id="256" r:id="rId5"/>
    <p:sldId id="311" r:id="rId6"/>
    <p:sldId id="317" r:id="rId7"/>
    <p:sldId id="327" r:id="rId8"/>
    <p:sldId id="328" r:id="rId9"/>
    <p:sldId id="325" r:id="rId10"/>
    <p:sldId id="326" r:id="rId11"/>
    <p:sldId id="310" r:id="rId12"/>
    <p:sldId id="300" r:id="rId13"/>
    <p:sldId id="277" r:id="rId14"/>
  </p:sldIdLst>
  <p:sldSz cx="9144000" cy="6858000" type="screen4x3"/>
  <p:notesSz cx="6858000" cy="9144000"/>
  <p:embeddedFontLst>
    <p:embeddedFont>
      <p:font typeface="Roboto Light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libeth Tello" initials="LT" lastIdx="1" clrIdx="0">
    <p:extLst>
      <p:ext uri="{19B8F6BF-5375-455C-9EA6-DF929625EA0E}">
        <p15:presenceInfo xmlns:p15="http://schemas.microsoft.com/office/powerpoint/2012/main" userId="Lilibeth Tell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E947D6-DF4B-4741-AA7C-B4CA6F938F26}">
  <a:tblStyle styleId="{B3E947D6-DF4B-4741-AA7C-B4CA6F938F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6"/>
  </p:normalViewPr>
  <p:slideViewPr>
    <p:cSldViewPr snapToGrid="0">
      <p:cViewPr varScale="1">
        <p:scale>
          <a:sx n="74" d="100"/>
          <a:sy n="74" d="100"/>
        </p:scale>
        <p:origin x="1053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ab5450e25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ab5450e25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Done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06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ab5450e25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ab5450e25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Done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386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ab5450e25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ab5450e25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Done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820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ab5450e25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ab5450e25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Done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199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ab5450e25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ab5450e25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Done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97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ab5450e25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ab5450e25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Done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346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a6104d7c5_1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4a6104d7c5_1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ab5450e25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ab5450e25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Done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3863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4a6104d7c5_1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4a6104d7c5_1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354" y="534986"/>
            <a:ext cx="1789909" cy="71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7800" y="1555749"/>
            <a:ext cx="2967964" cy="530225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3840782" y="501801"/>
            <a:ext cx="2884773" cy="5662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endParaRPr lang="en-US" dirty="0"/>
          </a:p>
          <a:p>
            <a:pPr marL="0" indent="0" algn="l"/>
            <a:endParaRPr lang="en" sz="2400" dirty="0">
              <a:solidFill>
                <a:srgbClr val="000000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CB902E-0A47-4EA0-92B6-AAF7EA89461C}"/>
              </a:ext>
            </a:extLst>
          </p:cNvPr>
          <p:cNvSpPr txBox="1"/>
          <p:nvPr/>
        </p:nvSpPr>
        <p:spPr>
          <a:xfrm>
            <a:off x="3078051" y="1382777"/>
            <a:ext cx="5678595" cy="304698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sz="4800" b="1" dirty="0">
                <a:latin typeface="Roboto Light"/>
                <a:ea typeface="Roboto Light"/>
              </a:rPr>
              <a:t>Module 4 Assignment: </a:t>
            </a:r>
            <a:r>
              <a:rPr lang="en-US" sz="4800" dirty="0">
                <a:latin typeface="Roboto Light"/>
                <a:ea typeface="Roboto Light"/>
              </a:rPr>
              <a:t>Business Analytics Model</a:t>
            </a:r>
            <a:endParaRPr lang="en" sz="4800" dirty="0">
              <a:latin typeface="Roboto Light"/>
              <a:ea typeface="Roboto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FCEE1-AC62-FEA4-8C96-84C309619D3F}"/>
              </a:ext>
            </a:extLst>
          </p:cNvPr>
          <p:cNvSpPr txBox="1"/>
          <p:nvPr/>
        </p:nvSpPr>
        <p:spPr>
          <a:xfrm>
            <a:off x="3773350" y="5471056"/>
            <a:ext cx="4983296" cy="861774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sz="2500" b="1" dirty="0">
                <a:latin typeface="Roboto Light"/>
                <a:ea typeface="Roboto Light"/>
              </a:rPr>
              <a:t>Name:</a:t>
            </a:r>
            <a:r>
              <a:rPr lang="en-US" sz="2500" b="1" dirty="0">
                <a:latin typeface="Roboto Light"/>
                <a:ea typeface="Roboto Light"/>
              </a:rPr>
              <a:t>Kingsley </a:t>
            </a:r>
            <a:r>
              <a:rPr lang="en-US" sz="2500" b="1" dirty="0" err="1">
                <a:latin typeface="Roboto Light"/>
                <a:ea typeface="Roboto Light"/>
              </a:rPr>
              <a:t>Osarobo</a:t>
            </a:r>
            <a:r>
              <a:rPr lang="en-US" sz="2500" b="1" dirty="0">
                <a:latin typeface="Roboto Light"/>
                <a:ea typeface="Roboto Light"/>
              </a:rPr>
              <a:t> Edionwe</a:t>
            </a:r>
            <a:endParaRPr lang="en" sz="2500" b="1" dirty="0">
              <a:latin typeface="Roboto Light"/>
              <a:ea typeface="Roboto Light"/>
            </a:endParaRPr>
          </a:p>
          <a:p>
            <a:r>
              <a:rPr lang="en" sz="2500" b="1" dirty="0">
                <a:latin typeface="Roboto Light"/>
                <a:ea typeface="Roboto Light"/>
              </a:rPr>
              <a:t>Learner ID:157398</a:t>
            </a:r>
            <a:endParaRPr lang="en" sz="2500" dirty="0">
              <a:latin typeface="Roboto Light"/>
              <a:ea typeface="Roboto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78E8F4-9294-2565-3E25-38FF3C4A7F18}"/>
              </a:ext>
            </a:extLst>
          </p:cNvPr>
          <p:cNvSpPr txBox="1"/>
          <p:nvPr/>
        </p:nvSpPr>
        <p:spPr>
          <a:xfrm>
            <a:off x="3773350" y="434495"/>
            <a:ext cx="4983296" cy="954107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sz="2800" b="1" dirty="0">
                <a:latin typeface="Roboto Light"/>
                <a:ea typeface="Roboto Light"/>
              </a:rPr>
              <a:t>B</a:t>
            </a:r>
            <a:r>
              <a:rPr lang="en-US" sz="2800" b="1" dirty="0">
                <a:latin typeface="Roboto Light"/>
                <a:ea typeface="Roboto Light"/>
              </a:rPr>
              <a:t>AN6800</a:t>
            </a:r>
            <a:r>
              <a:rPr lang="en" sz="2800" b="1" dirty="0">
                <a:latin typeface="Roboto Light"/>
                <a:ea typeface="Roboto Light"/>
              </a:rPr>
              <a:t>: Business </a:t>
            </a:r>
            <a:r>
              <a:rPr lang="en-US" sz="2800" b="1" dirty="0">
                <a:latin typeface="Roboto Light"/>
                <a:ea typeface="Roboto Light"/>
              </a:rPr>
              <a:t>Analytics Capstone</a:t>
            </a:r>
            <a:endParaRPr lang="en" sz="2800" b="1" dirty="0">
              <a:latin typeface="Roboto Light"/>
              <a:ea typeface="Roboto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25"/>
    </mc:Choice>
    <mc:Fallback xmlns="">
      <p:transition spd="slow" advTm="1752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2151483" y="575862"/>
            <a:ext cx="5982719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GITHUB URL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74" name="Google Shape;74;p15"/>
          <p:cNvCxnSpPr>
            <a:cxnSpLocks/>
          </p:cNvCxnSpPr>
          <p:nvPr/>
        </p:nvCxnSpPr>
        <p:spPr>
          <a:xfrm flipV="1">
            <a:off x="2151483" y="1125055"/>
            <a:ext cx="4642125" cy="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8216" y="-12"/>
            <a:ext cx="1675786" cy="9576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931973A-0547-AAF1-469B-F2A49AF55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355" y="1449889"/>
            <a:ext cx="8019245" cy="4764142"/>
          </a:xfrm>
        </p:spPr>
        <p:txBody>
          <a:bodyPr/>
          <a:lstStyle/>
          <a:p>
            <a:pPr marL="1828800" lvl="4" indent="0">
              <a:lnSpc>
                <a:spcPct val="200000"/>
              </a:lnSpc>
              <a:buNone/>
            </a:pPr>
            <a:r>
              <a:rPr lang="en-US" sz="1800" dirty="0"/>
              <a:t>https://github.com/Kingslyno/Module-4-Capstone.git</a:t>
            </a:r>
            <a:endParaRPr lang="en-US" sz="1800" i="1" dirty="0">
              <a:solidFill>
                <a:schemeClr val="dk1"/>
              </a:solidFill>
              <a:latin typeface="Roboto Light"/>
              <a:ea typeface="Roboto Light"/>
              <a:cs typeface="Roboto Light"/>
            </a:endParaRPr>
          </a:p>
        </p:txBody>
      </p:sp>
      <p:pic>
        <p:nvPicPr>
          <p:cNvPr id="6" name="Google Shape;184;p24">
            <a:extLst>
              <a:ext uri="{FF2B5EF4-FFF2-40B4-BE49-F238E27FC236}">
                <a16:creationId xmlns:a16="http://schemas.microsoft.com/office/drawing/2014/main" id="{6F04C13C-D5B1-471B-831D-AA6B5EF921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2092"/>
          <a:stretch/>
        </p:blipFill>
        <p:spPr>
          <a:xfrm>
            <a:off x="0" y="0"/>
            <a:ext cx="2238138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874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01"/>
    </mc:Choice>
    <mc:Fallback xmlns="">
      <p:transition spd="slow" advTm="2460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2350394" y="407626"/>
            <a:ext cx="5563674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Model Result 1</a:t>
            </a:r>
          </a:p>
        </p:txBody>
      </p:sp>
      <p:cxnSp>
        <p:nvCxnSpPr>
          <p:cNvPr id="74" name="Google Shape;74;p15"/>
          <p:cNvCxnSpPr>
            <a:cxnSpLocks/>
          </p:cNvCxnSpPr>
          <p:nvPr/>
        </p:nvCxnSpPr>
        <p:spPr>
          <a:xfrm flipV="1">
            <a:off x="2250937" y="1171126"/>
            <a:ext cx="5217279" cy="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8216" y="-12"/>
            <a:ext cx="1675786" cy="95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84;p24">
            <a:extLst>
              <a:ext uri="{FF2B5EF4-FFF2-40B4-BE49-F238E27FC236}">
                <a16:creationId xmlns:a16="http://schemas.microsoft.com/office/drawing/2014/main" id="{F9EB8D05-A2BD-4E40-A49F-7D142A807B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2092"/>
          <a:stretch/>
        </p:blipFill>
        <p:spPr>
          <a:xfrm>
            <a:off x="0" y="0"/>
            <a:ext cx="235039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0AE3C6-E1C1-47D7-9F12-46FDDFB74B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0394" y="1578752"/>
            <a:ext cx="6407240" cy="480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80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132"/>
    </mc:Choice>
    <mc:Fallback xmlns="">
      <p:transition spd="slow" advTm="2813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2350394" y="407626"/>
            <a:ext cx="5563674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Model Result 2</a:t>
            </a:r>
          </a:p>
        </p:txBody>
      </p:sp>
      <p:cxnSp>
        <p:nvCxnSpPr>
          <p:cNvPr id="74" name="Google Shape;74;p15"/>
          <p:cNvCxnSpPr>
            <a:cxnSpLocks/>
          </p:cNvCxnSpPr>
          <p:nvPr/>
        </p:nvCxnSpPr>
        <p:spPr>
          <a:xfrm flipV="1">
            <a:off x="2250937" y="1171126"/>
            <a:ext cx="5217279" cy="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8216" y="-12"/>
            <a:ext cx="1675786" cy="95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84;p24">
            <a:extLst>
              <a:ext uri="{FF2B5EF4-FFF2-40B4-BE49-F238E27FC236}">
                <a16:creationId xmlns:a16="http://schemas.microsoft.com/office/drawing/2014/main" id="{F9EB8D05-A2BD-4E40-A49F-7D142A807B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2092"/>
          <a:stretch/>
        </p:blipFill>
        <p:spPr>
          <a:xfrm>
            <a:off x="0" y="0"/>
            <a:ext cx="235039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9584AB-43B2-422C-B441-643A29637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7137" y="1504936"/>
            <a:ext cx="5982237" cy="484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7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396"/>
    </mc:Choice>
    <mc:Fallback xmlns="">
      <p:transition spd="slow" advTm="2339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2350393" y="407626"/>
            <a:ext cx="5660265" cy="9576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Model Result 3</a:t>
            </a:r>
          </a:p>
        </p:txBody>
      </p:sp>
      <p:cxnSp>
        <p:nvCxnSpPr>
          <p:cNvPr id="74" name="Google Shape;74;p15"/>
          <p:cNvCxnSpPr>
            <a:cxnSpLocks/>
          </p:cNvCxnSpPr>
          <p:nvPr/>
        </p:nvCxnSpPr>
        <p:spPr>
          <a:xfrm flipV="1">
            <a:off x="2350393" y="1396576"/>
            <a:ext cx="5217279" cy="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8216" y="-12"/>
            <a:ext cx="1675786" cy="95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84;p24">
            <a:extLst>
              <a:ext uri="{FF2B5EF4-FFF2-40B4-BE49-F238E27FC236}">
                <a16:creationId xmlns:a16="http://schemas.microsoft.com/office/drawing/2014/main" id="{F9EB8D05-A2BD-4E40-A49F-7D142A807B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2092"/>
          <a:stretch/>
        </p:blipFill>
        <p:spPr>
          <a:xfrm>
            <a:off x="0" y="0"/>
            <a:ext cx="235039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F2C1BC-3B36-48B3-AB5B-010FD1248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1910" y="1661408"/>
            <a:ext cx="6581104" cy="488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739"/>
    </mc:Choice>
    <mc:Fallback xmlns="">
      <p:transition spd="slow" advTm="2373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2350393" y="407626"/>
            <a:ext cx="5615189" cy="866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Model Result 4</a:t>
            </a:r>
            <a:endParaRPr lang="en-NG" dirty="0"/>
          </a:p>
        </p:txBody>
      </p:sp>
      <p:cxnSp>
        <p:nvCxnSpPr>
          <p:cNvPr id="74" name="Google Shape;74;p15"/>
          <p:cNvCxnSpPr>
            <a:cxnSpLocks/>
          </p:cNvCxnSpPr>
          <p:nvPr/>
        </p:nvCxnSpPr>
        <p:spPr>
          <a:xfrm flipV="1">
            <a:off x="2350393" y="1380753"/>
            <a:ext cx="4642125" cy="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8216" y="-12"/>
            <a:ext cx="1675786" cy="95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84;p24">
            <a:extLst>
              <a:ext uri="{FF2B5EF4-FFF2-40B4-BE49-F238E27FC236}">
                <a16:creationId xmlns:a16="http://schemas.microsoft.com/office/drawing/2014/main" id="{F9EB8D05-A2BD-4E40-A49F-7D142A807B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2092"/>
          <a:stretch/>
        </p:blipFill>
        <p:spPr>
          <a:xfrm>
            <a:off x="0" y="0"/>
            <a:ext cx="235039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003019-607A-4325-B6D7-C2534B06C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789" y="1539050"/>
            <a:ext cx="6452315" cy="479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8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450"/>
    </mc:Choice>
    <mc:Fallback xmlns="">
      <p:transition spd="slow" advTm="2845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013656" y="407626"/>
            <a:ext cx="4900412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Correlation</a:t>
            </a:r>
            <a:endParaRPr lang="en-NG" dirty="0"/>
          </a:p>
        </p:txBody>
      </p:sp>
      <p:cxnSp>
        <p:nvCxnSpPr>
          <p:cNvPr id="74" name="Google Shape;74;p15"/>
          <p:cNvCxnSpPr>
            <a:cxnSpLocks/>
          </p:cNvCxnSpPr>
          <p:nvPr/>
        </p:nvCxnSpPr>
        <p:spPr>
          <a:xfrm flipV="1">
            <a:off x="2250937" y="1171126"/>
            <a:ext cx="4642125" cy="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8216" y="-12"/>
            <a:ext cx="1675786" cy="95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84;p24">
            <a:extLst>
              <a:ext uri="{FF2B5EF4-FFF2-40B4-BE49-F238E27FC236}">
                <a16:creationId xmlns:a16="http://schemas.microsoft.com/office/drawing/2014/main" id="{F9EB8D05-A2BD-4E40-A49F-7D142A807B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2092"/>
          <a:stretch/>
        </p:blipFill>
        <p:spPr>
          <a:xfrm>
            <a:off x="0" y="0"/>
            <a:ext cx="202198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33C857-972B-4B1B-AEE0-827E08C9B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0937" y="1275458"/>
            <a:ext cx="6524673" cy="532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6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33"/>
    </mc:Choice>
    <mc:Fallback xmlns="">
      <p:transition spd="slow" advTm="1463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4"/>
          <p:cNvPicPr preferRelativeResize="0"/>
          <p:nvPr/>
        </p:nvPicPr>
        <p:blipFill rotWithShape="1">
          <a:blip r:embed="rId3">
            <a:alphaModFix/>
          </a:blip>
          <a:srcRect l="42092"/>
          <a:stretch/>
        </p:blipFill>
        <p:spPr>
          <a:xfrm>
            <a:off x="1" y="0"/>
            <a:ext cx="278827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/>
        </p:nvSpPr>
        <p:spPr>
          <a:xfrm>
            <a:off x="2788277" y="572645"/>
            <a:ext cx="5368895" cy="1269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500" b="1" dirty="0">
                <a:latin typeface="Roboto Light"/>
                <a:ea typeface="Roboto Light"/>
                <a:cs typeface="Roboto Light"/>
                <a:sym typeface="Roboto Light"/>
              </a:rPr>
              <a:t>Model Evaluation</a:t>
            </a:r>
            <a:endParaRPr sz="3500" b="1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91" name="Google Shape;19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8216" y="-12"/>
            <a:ext cx="1675786" cy="957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74;p15">
            <a:extLst>
              <a:ext uri="{FF2B5EF4-FFF2-40B4-BE49-F238E27FC236}">
                <a16:creationId xmlns:a16="http://schemas.microsoft.com/office/drawing/2014/main" id="{008680AF-911C-4D2D-972D-73E9F1EAE7BB}"/>
              </a:ext>
            </a:extLst>
          </p:cNvPr>
          <p:cNvCxnSpPr>
            <a:cxnSpLocks/>
          </p:cNvCxnSpPr>
          <p:nvPr/>
        </p:nvCxnSpPr>
        <p:spPr>
          <a:xfrm>
            <a:off x="2891307" y="1358721"/>
            <a:ext cx="4134118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5393A6-64B2-47A6-9692-0412DC633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9875" y="1743687"/>
            <a:ext cx="5081466" cy="3420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92"/>
    </mc:Choice>
    <mc:Fallback xmlns="">
      <p:transition spd="slow" advTm="2949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2350394" y="407626"/>
            <a:ext cx="3681055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latin typeface="Roboto Light"/>
                <a:ea typeface="Roboto Light"/>
                <a:cs typeface="Roboto Light"/>
                <a:sym typeface="Roboto Light"/>
              </a:rPr>
              <a:t>Model Prediction</a:t>
            </a:r>
            <a:endParaRPr b="1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74" name="Google Shape;74;p15"/>
          <p:cNvCxnSpPr>
            <a:cxnSpLocks/>
          </p:cNvCxnSpPr>
          <p:nvPr/>
        </p:nvCxnSpPr>
        <p:spPr>
          <a:xfrm flipV="1">
            <a:off x="2250937" y="1171126"/>
            <a:ext cx="4642125" cy="8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8216" y="-12"/>
            <a:ext cx="1675786" cy="95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84;p24">
            <a:extLst>
              <a:ext uri="{FF2B5EF4-FFF2-40B4-BE49-F238E27FC236}">
                <a16:creationId xmlns:a16="http://schemas.microsoft.com/office/drawing/2014/main" id="{F9EB8D05-A2BD-4E40-A49F-7D142A807B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2092"/>
          <a:stretch/>
        </p:blipFill>
        <p:spPr>
          <a:xfrm>
            <a:off x="0" y="0"/>
            <a:ext cx="2350394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5B3BF3-9048-4EC5-9251-8D00C7E9C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0393" y="1365239"/>
            <a:ext cx="6397155" cy="499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3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2"/>
    </mc:Choice>
    <mc:Fallback xmlns="">
      <p:transition spd="slow" advTm="2074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"/>
          <p:cNvSpPr txBox="1"/>
          <p:nvPr/>
        </p:nvSpPr>
        <p:spPr>
          <a:xfrm>
            <a:off x="272372" y="1644879"/>
            <a:ext cx="4043100" cy="20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Thank you!</a:t>
            </a:r>
            <a:endParaRPr sz="5400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07" name="Google Shape;307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7850" y="219875"/>
            <a:ext cx="1212499" cy="51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4"/>
    </mc:Choice>
    <mc:Fallback xmlns="">
      <p:transition spd="slow" advTm="2514"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1B9F3730CB5E4CAF06D896673D033E" ma:contentTypeVersion="29" ma:contentTypeDescription="Create a new document." ma:contentTypeScope="" ma:versionID="a0db10396f97873c4f0626a389fcfce4">
  <xsd:schema xmlns:xsd="http://www.w3.org/2001/XMLSchema" xmlns:xs="http://www.w3.org/2001/XMLSchema" xmlns:p="http://schemas.microsoft.com/office/2006/metadata/properties" xmlns:ns2="0b393114-a947-43d2-8624-2907cb92b6da" xmlns:ns3="653c743a-35fa-43aa-aa42-1b1eb0efaa4c" targetNamespace="http://schemas.microsoft.com/office/2006/metadata/properties" ma:root="true" ma:fieldsID="2d1f62b4d5bd01a9e6b9d000c2ed2dd3" ns2:_="" ns3:_="">
    <xsd:import namespace="0b393114-a947-43d2-8624-2907cb92b6da"/>
    <xsd:import namespace="653c743a-35fa-43aa-aa42-1b1eb0efaa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_Flow_SignoffStatus" minOccurs="0"/>
                <xsd:element ref="ns3:SharedWithUsers" minOccurs="0"/>
                <xsd:element ref="ns3:SharedWithDetails" minOccurs="0"/>
                <xsd:element ref="ns2:MediaServiceLocation" minOccurs="0"/>
                <xsd:element ref="ns2:Date_x0020_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EvaPharma" minOccurs="0"/>
                <xsd:element ref="ns2:Thumbnail" minOccurs="0"/>
                <xsd:element ref="ns2:axpe"/>
                <xsd:element ref="ns2:Completed"/>
                <xsd:element ref="ns2:CompletionStatus" minOccurs="0"/>
                <xsd:element ref="ns2:e9ui" minOccurs="0"/>
                <xsd:element ref="ns2:_x0077_bs3" minOccurs="0"/>
                <xsd:element ref="ns2:Working_x0020_Group" minOccurs="0"/>
                <xsd:element ref="ns2:Working_x0020_Status" minOccurs="0"/>
                <xsd:element ref="ns2:MediaLengthInSeconds" minOccurs="0"/>
                <xsd:element ref="ns2:Tag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393114-a947-43d2-8624-2907cb92b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description="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3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6" nillable="true" ma:displayName="Location" ma:description="" ma:internalName="MediaServiceLocation" ma:readOnly="true">
      <xsd:simpleType>
        <xsd:restriction base="dms:Text"/>
      </xsd:simpleType>
    </xsd:element>
    <xsd:element name="Date_x0020_" ma:index="17" nillable="true" ma:displayName="Due Date" ma:format="DateTime" ma:internalName="Date_x0020_">
      <xsd:simpleType>
        <xsd:restriction base="dms:DateTim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EvaPharma" ma:index="22" nillable="true" ma:displayName="Eva Pharma" ma:format="Dropdown" ma:internalName="EvaPharma">
      <xsd:simpleType>
        <xsd:restriction base="dms:Text">
          <xsd:maxLength value="255"/>
        </xsd:restriction>
      </xsd:simpleType>
    </xsd:element>
    <xsd:element name="Thumbnail" ma:index="23" nillable="true" ma:displayName="Thumbnail" ma:format="Image" ma:internalName="Thumbnai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xpe" ma:index="24" ma:displayName="Assignees" ma:default="Completed and Uploaded" ma:format="Dropdown" ma:internalName="axpe">
      <xsd:simpleType>
        <xsd:restriction base="dms:Note">
          <xsd:maxLength value="255"/>
        </xsd:restriction>
      </xsd:simpleType>
    </xsd:element>
    <xsd:element name="Completed" ma:index="25" ma:displayName="Status" ma:default="NO" ma:format="Dropdown" ma:internalName="Completed">
      <xsd:simpleType>
        <xsd:union memberTypes="dms:Text">
          <xsd:simpleType>
            <xsd:restriction base="dms:Choice">
              <xsd:enumeration value="WIP"/>
              <xsd:enumeration value="NO"/>
              <xsd:enumeration value="YES"/>
              <xsd:enumeration value="No Action"/>
              <xsd:enumeration value="Completed"/>
              <xsd:enumeration value="Incomplete"/>
              <xsd:enumeration value="Template"/>
            </xsd:restriction>
          </xsd:simpleType>
        </xsd:union>
      </xsd:simpleType>
    </xsd:element>
    <xsd:element name="CompletionStatus" ma:index="26" nillable="true" ma:displayName="Completion Status" ma:default="1" ma:format="Dropdown" ma:internalName="CompletionStatus">
      <xsd:simpleType>
        <xsd:restriction base="dms:Boolean"/>
      </xsd:simpleType>
    </xsd:element>
    <xsd:element name="e9ui" ma:index="27" nillable="true" ma:displayName="Date and time" ma:internalName="e9ui">
      <xsd:simpleType>
        <xsd:restriction base="dms:DateTime"/>
      </xsd:simpleType>
    </xsd:element>
    <xsd:element name="_x0077_bs3" ma:index="28" nillable="true" ma:displayName="Person or Group" ma:list="UserInfo" ma:internalName="_x0077_bs3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Working_x0020_Group" ma:index="29" nillable="true" ma:displayName="Working Group" ma:internalName="Working_x0020_Group">
      <xsd:simpleType>
        <xsd:restriction base="dms:Note">
          <xsd:maxLength value="255"/>
        </xsd:restriction>
      </xsd:simpleType>
    </xsd:element>
    <xsd:element name="Working_x0020_Status" ma:index="30" nillable="true" ma:displayName="Working Status" ma:default="WIP" ma:format="Dropdown" ma:internalName="Working_x0020_Status">
      <xsd:simpleType>
        <xsd:restriction base="dms:Choice">
          <xsd:enumeration value="WIP"/>
          <xsd:enumeration value="Awaiting Feedback"/>
          <xsd:enumeration value="Completed"/>
        </xsd:restriction>
      </xsd:simpleType>
    </xsd:element>
    <xsd:element name="MediaLengthInSeconds" ma:index="31" nillable="true" ma:displayName="Length (seconds)" ma:internalName="MediaLengthInSeconds" ma:readOnly="true">
      <xsd:simpleType>
        <xsd:restriction base="dms:Unknown"/>
      </xsd:simpleType>
    </xsd:element>
    <xsd:element name="Tags" ma:index="32" nillable="true" ma:displayName="Details" ma:format="Dropdown" ma:internalName="Tags">
      <xsd:simpleType>
        <xsd:restriction base="dms:Text">
          <xsd:maxLength value="255"/>
        </xsd:restriction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a24853b0-4b0c-4ec2-a197-8d07c248d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3c743a-35fa-43aa-aa42-1b1eb0efaa4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35" nillable="true" ma:displayName="Taxonomy Catch All Column" ma:hidden="true" ma:list="{6d7cb5f3-fee3-4071-a02c-1cf07f98f287}" ma:internalName="TaxCatchAll" ma:showField="CatchAllData" ma:web="653c743a-35fa-43aa-aa42-1b1eb0efaa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0b393114-a947-43d2-8624-2907cb92b6da" xsi:nil="true"/>
    <SharedWithUsers xmlns="653c743a-35fa-43aa-aa42-1b1eb0efaa4c">
      <UserInfo>
        <DisplayName>Tari Diete-Spiff</DisplayName>
        <AccountId>40</AccountId>
        <AccountType/>
      </UserInfo>
      <UserInfo>
        <DisplayName>Joan Ilagan</DisplayName>
        <AccountId>51</AccountId>
        <AccountType/>
      </UserInfo>
      <UserInfo>
        <DisplayName>Joe Cappa</DisplayName>
        <AccountId>48</AccountId>
        <AccountType/>
      </UserInfo>
      <UserInfo>
        <DisplayName>Robin Johnston</DisplayName>
        <AccountId>25</AccountId>
        <AccountType/>
      </UserInfo>
      <UserInfo>
        <DisplayName>Julie Thompson</DisplayName>
        <AccountId>2069</AccountId>
        <AccountType/>
      </UserInfo>
      <UserInfo>
        <DisplayName>Patricia Caceres</DisplayName>
        <AccountId>3276</AccountId>
        <AccountType/>
      </UserInfo>
      <UserInfo>
        <DisplayName>Damilola Subair</DisplayName>
        <AccountId>11173</AccountId>
        <AccountType/>
      </UserInfo>
      <UserInfo>
        <DisplayName>Michael Rodriguez</DisplayName>
        <AccountId>6731</AccountId>
        <AccountType/>
      </UserInfo>
    </SharedWithUsers>
    <Date_x0020_ xmlns="0b393114-a947-43d2-8624-2907cb92b6da" xsi:nil="true"/>
    <EvaPharma xmlns="0b393114-a947-43d2-8624-2907cb92b6da" xsi:nil="true"/>
    <Thumbnail xmlns="0b393114-a947-43d2-8624-2907cb92b6da">
      <Url xsi:nil="true"/>
      <Description xsi:nil="true"/>
    </Thumbnail>
    <axpe xmlns="0b393114-a947-43d2-8624-2907cb92b6da"/>
    <CompletionStatus xmlns="0b393114-a947-43d2-8624-2907cb92b6da">true</CompletionStatus>
    <e9ui xmlns="0b393114-a947-43d2-8624-2907cb92b6da" xsi:nil="true"/>
    <Completed xmlns="0b393114-a947-43d2-8624-2907cb92b6da">NO</Completed>
    <_x0077_bs3 xmlns="0b393114-a947-43d2-8624-2907cb92b6da">
      <UserInfo>
        <DisplayName/>
        <AccountId xsi:nil="true"/>
        <AccountType/>
      </UserInfo>
    </_x0077_bs3>
    <Working_x0020_Status xmlns="0b393114-a947-43d2-8624-2907cb92b6da">WIP</Working_x0020_Status>
    <Working_x0020_Group xmlns="0b393114-a947-43d2-8624-2907cb92b6da" xsi:nil="true"/>
    <Tags xmlns="0b393114-a947-43d2-8624-2907cb92b6da" xsi:nil="true"/>
    <TaxCatchAll xmlns="653c743a-35fa-43aa-aa42-1b1eb0efaa4c" xsi:nil="true"/>
    <lcf76f155ced4ddcb4097134ff3c332f xmlns="0b393114-a947-43d2-8624-2907cb92b6d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B3B380E-DF1E-4257-9AA1-F29FE311D2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393114-a947-43d2-8624-2907cb92b6da"/>
    <ds:schemaRef ds:uri="653c743a-35fa-43aa-aa42-1b1eb0efaa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FBD9BE-E99B-4802-8BE4-E2DDBD3127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7C01DA-1702-46CF-B630-42E784941709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653c743a-35fa-43aa-aa42-1b1eb0efaa4c"/>
    <ds:schemaRef ds:uri="http://purl.org/dc/terms/"/>
    <ds:schemaRef ds:uri="http://schemas.microsoft.com/office/infopath/2007/PartnerControls"/>
    <ds:schemaRef ds:uri="http://www.w3.org/XML/1998/namespace"/>
    <ds:schemaRef ds:uri="0b393114-a947-43d2-8624-2907cb92b6da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47095</TotalTime>
  <Words>62</Words>
  <Application>Microsoft Office PowerPoint</Application>
  <PresentationFormat>On-screen Show (4:3)</PresentationFormat>
  <Paragraphs>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Roboto Light</vt:lpstr>
      <vt:lpstr>Simple Light</vt:lpstr>
      <vt:lpstr>PowerPoint Presentation</vt:lpstr>
      <vt:lpstr>GITHUB URL</vt:lpstr>
      <vt:lpstr>Model Result 1</vt:lpstr>
      <vt:lpstr>Model Result 2</vt:lpstr>
      <vt:lpstr>Model Result 3</vt:lpstr>
      <vt:lpstr>Model Result 4</vt:lpstr>
      <vt:lpstr>Correlation</vt:lpstr>
      <vt:lpstr>PowerPoint Presentation</vt:lpstr>
      <vt:lpstr>Model Prediction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kingsley edionwe</dc:creator>
  <cp:lastModifiedBy>kingsley edionwe</cp:lastModifiedBy>
  <cp:revision>223</cp:revision>
  <dcterms:modified xsi:type="dcterms:W3CDTF">2025-09-21T10:26:17Z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0x010100151B9F3730CB5E4CAF06D896673D033E</vt:lpwstr>
  </property>
  <property fmtid="{D5CDD505-2E9C-101B-9397-08002B2CF9AE}" pid="3" name="AuthorIds_UIVersion_1536">
    <vt:lpwstr>53</vt:lpwstr>
  </property>
  <property fmtid="{D5CDD505-2E9C-101B-9397-08002B2CF9AE}" pid="4" name="AuthorIds_UIVersion_2560">
    <vt:lpwstr>17</vt:lpwstr>
  </property>
  <property fmtid="{D5CDD505-2E9C-101B-9397-08002B2CF9AE}" pid="5" name="AuthorIds_UIVersion_3072">
    <vt:lpwstr>17</vt:lpwstr>
  </property>
</Properties>
</file>